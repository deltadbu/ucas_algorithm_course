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3" r:id="rId4"/>
    <p:sldId id="262" r:id="rId5"/>
    <p:sldId id="261" r:id="rId6"/>
    <p:sldId id="257" r:id="rId7"/>
    <p:sldId id="264" r:id="rId8"/>
    <p:sldId id="265" r:id="rId9"/>
    <p:sldId id="266" r:id="rId10"/>
    <p:sldId id="258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92"/>
    <p:restoredTop sz="93021"/>
  </p:normalViewPr>
  <p:slideViewPr>
    <p:cSldViewPr snapToGrid="0" snapToObjects="1">
      <p:cViewPr varScale="1">
        <p:scale>
          <a:sx n="99" d="100"/>
          <a:sy n="99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C13C6-A202-5E4B-AE4E-D07B1C375A9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A5C22-8157-6F41-8A15-DDD93B005DA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dbu@ict.ac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tiff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 on the course Algorithm Design?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83038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>
                <a:hlinkClick r:id="rId1"/>
              </a:rPr>
              <a:t>dbu@ict.ac.cn</a:t>
            </a:r>
            <a:r>
              <a:rPr lang="en-US" sz="2800" dirty="0"/>
              <a:t> 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solve problems?	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1438275"/>
            <a:ext cx="8610600" cy="1054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454276"/>
            <a:ext cx="8559800" cy="3822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207000"/>
          </a:xfrm>
        </p:spPr>
        <p:txBody>
          <a:bodyPr>
            <a:normAutofit fontScale="4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基于对问题结构观察的算法设计；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从最简单的例子做起；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试图把大的问题分解成小问题；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试图从粗糙解开始逐步改进；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试图枚举所有的解，但是“</a:t>
            </a:r>
            <a:r>
              <a:rPr lang="en-US" altLang="zh-CN" sz="4000" dirty="0"/>
              <a:t>being smart”;</a:t>
            </a: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难以优化的函数，用下界或上界函数替代</a:t>
            </a:r>
            <a:r>
              <a:rPr lang="en-US" altLang="zh-CN" sz="4000" dirty="0"/>
              <a:t>,</a:t>
            </a:r>
            <a:r>
              <a:rPr lang="en-US" altLang="zh-CN" sz="4000" dirty="0" err="1"/>
              <a:t>e.g</a:t>
            </a:r>
            <a:r>
              <a:rPr lang="en-US" altLang="zh-CN" sz="4000" dirty="0"/>
              <a:t>, EM, </a:t>
            </a:r>
            <a:r>
              <a:rPr lang="en-US" altLang="zh-CN" sz="4000" dirty="0" err="1"/>
              <a:t>Lagrangian</a:t>
            </a:r>
            <a:r>
              <a:rPr lang="en-US" altLang="zh-CN" sz="4000" dirty="0"/>
              <a:t>, log barrier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复杂操作的潜力一定要挖尽</a:t>
            </a:r>
            <a:r>
              <a:rPr lang="en-US" altLang="zh-CN" sz="4000" dirty="0"/>
              <a:t>, e.g., </a:t>
            </a:r>
            <a:r>
              <a:rPr lang="en-US" altLang="zh-CN" sz="4000" dirty="0" err="1"/>
              <a:t>Dinic’s</a:t>
            </a:r>
            <a:r>
              <a:rPr lang="en-US" altLang="zh-CN" sz="4000" dirty="0"/>
              <a:t> algorithm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求同时满足多个条件的解，分步满足，并利用对称性</a:t>
            </a:r>
            <a:r>
              <a:rPr lang="en-US" altLang="zh-CN" sz="4000" dirty="0"/>
              <a:t>, e.g., 3 strategies to solve LP, Push relabel;</a:t>
            </a:r>
            <a:endParaRPr lang="zh-CN" altLang="en-US" sz="400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sz="4000" dirty="0"/>
              <a:t>想想对偶</a:t>
            </a:r>
            <a:r>
              <a:rPr lang="en-US" altLang="zh-CN" sz="4000" dirty="0"/>
              <a:t>, e.g., primal and dual; </a:t>
            </a: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sz="4000" dirty="0"/>
              <a:t>Random sampling, e.g., select a pivot; </a:t>
            </a: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sz="4000" dirty="0"/>
              <a:t>Scaling + rounding, e.g., Scaling FF, closest-pair; </a:t>
            </a: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sz="4000" dirty="0"/>
              <a:t>Best =&gt; sufficiently good, e.g., select a pivot, scaling FF, push relabel; </a:t>
            </a: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sz="4000" dirty="0"/>
              <a:t>Is AI always reliable? How to colaborate with AI? </a:t>
            </a: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endParaRPr lang="en-US" altLang="zh-CN" sz="4000" dirty="0"/>
          </a:p>
          <a:p>
            <a:pPr marL="742950" indent="-742950">
              <a:buFont typeface="+mj-lt"/>
              <a:buAutoNum type="arabicPeriod"/>
            </a:pPr>
            <a:endParaRPr lang="zh-CN" alt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222" y="201825"/>
            <a:ext cx="10515600" cy="1325563"/>
          </a:xfrm>
        </p:spPr>
        <p:txBody>
          <a:bodyPr/>
          <a:lstStyle/>
          <a:p>
            <a:r>
              <a:rPr lang="en-US" dirty="0"/>
              <a:t>Thanks the scribes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22" y="5075482"/>
            <a:ext cx="10058400" cy="1428411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3422" y="354107"/>
            <a:ext cx="3305114" cy="435133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Polya</a:t>
            </a:r>
            <a:r>
              <a:rPr lang="zh-CN" altLang="en-US" dirty="0"/>
              <a:t>的</a:t>
            </a:r>
            <a:r>
              <a:rPr lang="en-US" altLang="zh-CN" dirty="0"/>
              <a:t>《</a:t>
            </a:r>
            <a:r>
              <a:rPr lang="zh-CN" altLang="en-US" dirty="0"/>
              <a:t>怎样解题</a:t>
            </a:r>
            <a:r>
              <a:rPr lang="en-US" altLang="zh-CN" dirty="0"/>
              <a:t>》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527425"/>
            <a:ext cx="10278351" cy="2480469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451" y="365125"/>
            <a:ext cx="24511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a good book</a:t>
            </a:r>
            <a:r>
              <a:rPr lang="zh-CN" altLang="en-US" dirty="0"/>
              <a:t>？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78548" y="3507581"/>
            <a:ext cx="3743252" cy="1976437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987" y="3507581"/>
            <a:ext cx="3265714" cy="2286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800" y="365125"/>
            <a:ext cx="2476500" cy="34571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a bad book?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0" y="2914650"/>
            <a:ext cx="10795000" cy="33175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50" y="533400"/>
            <a:ext cx="286385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 dirty="0" err="1"/>
              <a:t>Loongson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These software run smoothly on </a:t>
            </a:r>
            <a:r>
              <a:rPr lang="en-US" dirty="0" err="1"/>
              <a:t>Loongson</a:t>
            </a:r>
            <a:r>
              <a:rPr lang="en-US" dirty="0"/>
              <a:t>! </a:t>
            </a:r>
            <a:endParaRPr lang="en-US" dirty="0"/>
          </a:p>
          <a:p>
            <a:r>
              <a:rPr lang="en-US" dirty="0"/>
              <a:t>Text processing:</a:t>
            </a:r>
            <a:endParaRPr lang="en-US" dirty="0"/>
          </a:p>
          <a:p>
            <a:pPr lvl="1"/>
            <a:r>
              <a:rPr lang="en-US" dirty="0" err="1"/>
              <a:t>TexShop</a:t>
            </a:r>
            <a:r>
              <a:rPr lang="en-US" dirty="0"/>
              <a:t>, Latex,</a:t>
            </a:r>
            <a:r>
              <a:rPr lang="is-IS" dirty="0"/>
              <a:t>…</a:t>
            </a:r>
            <a:endParaRPr lang="is-IS" dirty="0"/>
          </a:p>
          <a:p>
            <a:pPr lvl="1"/>
            <a:r>
              <a:rPr lang="is-IS" dirty="0"/>
              <a:t>Word, Powerpoint, evince, ...</a:t>
            </a:r>
            <a:endParaRPr lang="is-IS" dirty="0"/>
          </a:p>
          <a:p>
            <a:r>
              <a:rPr lang="is-IS" dirty="0"/>
              <a:t>Mathematical packages:</a:t>
            </a:r>
            <a:endParaRPr lang="is-IS" dirty="0"/>
          </a:p>
          <a:p>
            <a:pPr lvl="1"/>
            <a:r>
              <a:rPr lang="is-IS" dirty="0"/>
              <a:t>GLPK</a:t>
            </a:r>
            <a:endParaRPr lang="is-IS" dirty="0"/>
          </a:p>
          <a:p>
            <a:pPr lvl="1"/>
            <a:r>
              <a:rPr lang="is-IS" dirty="0"/>
              <a:t>Octave (MatLab)</a:t>
            </a:r>
            <a:endParaRPr lang="is-IS" dirty="0"/>
          </a:p>
          <a:p>
            <a:r>
              <a:rPr lang="is-IS" dirty="0"/>
              <a:t>Image processing:</a:t>
            </a:r>
            <a:endParaRPr lang="is-IS" dirty="0"/>
          </a:p>
          <a:p>
            <a:pPr lvl="1"/>
            <a:r>
              <a:rPr lang="en-US" dirty="0"/>
              <a:t>GIMP, </a:t>
            </a:r>
            <a:r>
              <a:rPr lang="en-US" dirty="0" err="1"/>
              <a:t>gnuplot</a:t>
            </a:r>
            <a:r>
              <a:rPr lang="en-US" dirty="0"/>
              <a:t>, </a:t>
            </a:r>
            <a:r>
              <a:rPr lang="is-IS" dirty="0"/>
              <a:t>…. </a:t>
            </a:r>
            <a:endParaRPr lang="is-IS" dirty="0"/>
          </a:p>
          <a:p>
            <a:r>
              <a:rPr lang="is-IS" dirty="0"/>
              <a:t>Programming languages:</a:t>
            </a:r>
            <a:endParaRPr lang="is-IS" dirty="0"/>
          </a:p>
          <a:p>
            <a:pPr lvl="1"/>
            <a:r>
              <a:rPr lang="is-IS" dirty="0"/>
              <a:t>Python, perl, gcc, g++, ... </a:t>
            </a:r>
            <a:endParaRPr lang="is-IS" dirty="0"/>
          </a:p>
          <a:p>
            <a:r>
              <a:rPr lang="is-IS" dirty="0"/>
              <a:t>.....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611" y="3563938"/>
            <a:ext cx="3185578" cy="32119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611" y="-115093"/>
            <a:ext cx="3606800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all!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WPS 演示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Arial</vt:lpstr>
      <vt:lpstr>DejaVu Sans</vt:lpstr>
      <vt:lpstr>Calibri Light</vt:lpstr>
      <vt:lpstr>Calibri</vt:lpstr>
      <vt:lpstr>微软雅黑</vt:lpstr>
      <vt:lpstr>Droid Sans Fallback</vt:lpstr>
      <vt:lpstr>宋体</vt:lpstr>
      <vt:lpstr>Arial Unicode MS</vt:lpstr>
      <vt:lpstr>Noto Serif CJK SC</vt:lpstr>
      <vt:lpstr>汉仪叶叶相思体简</vt:lpstr>
      <vt:lpstr>Office Theme</vt:lpstr>
      <vt:lpstr>What have we learned on the course Algorithm Design?</vt:lpstr>
      <vt:lpstr>How to solve problems?	</vt:lpstr>
      <vt:lpstr>Several lessons</vt:lpstr>
      <vt:lpstr>Acknowledgements</vt:lpstr>
      <vt:lpstr>Thanks the scribes </vt:lpstr>
      <vt:lpstr>Polya的《怎样解题》</vt:lpstr>
      <vt:lpstr>What is a good book？</vt:lpstr>
      <vt:lpstr>What is a bad book? </vt:lpstr>
      <vt:lpstr>Thank Loongson</vt:lpstr>
      <vt:lpstr>Thank you all!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Acknowledgements</dc:title>
  <dc:creator>Microsoft Office User</dc:creator>
  <cp:lastModifiedBy>dbu</cp:lastModifiedBy>
  <cp:revision>21</cp:revision>
  <cp:lastPrinted>2026-01-24T10:27:15Z</cp:lastPrinted>
  <dcterms:created xsi:type="dcterms:W3CDTF">2026-01-24T10:27:15Z</dcterms:created>
  <dcterms:modified xsi:type="dcterms:W3CDTF">2026-01-24T10:27:15Z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DAE9E805B98619AA839E7469D7757B9C_42</vt:lpwstr>
  </property>
  <property fmtid="{D5CDD505-2E9C-101B-9397-08002B2CF9AE}" pid="3" name="KSOProductBuildVer">
    <vt:lpwstr>2052-12.1.2.23578</vt:lpwstr>
  </property>
</Properties>
</file>